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3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53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dlapalli, Vamsi" userId="0f82d78b-8844-4523-84db-62272a297070" providerId="ADAL" clId="{AE3275C3-36B1-40E2-82FC-6092B23B97E1}"/>
    <pc:docChg chg="undo custSel delSld modSld sldOrd">
      <pc:chgData name="Yedlapalli, Vamsi" userId="0f82d78b-8844-4523-84db-62272a297070" providerId="ADAL" clId="{AE3275C3-36B1-40E2-82FC-6092B23B97E1}" dt="2026-09-21T09:24:50.449" v="401" actId="47"/>
      <pc:docMkLst>
        <pc:docMk/>
      </pc:docMkLst>
      <pc:sldChg chg="modSp mod chgLayout">
        <pc:chgData name="Yedlapalli, Vamsi" userId="0f82d78b-8844-4523-84db-62272a297070" providerId="ADAL" clId="{AE3275C3-36B1-40E2-82FC-6092B23B97E1}" dt="2026-09-17T15:35:35.073" v="39" actId="700"/>
        <pc:sldMkLst>
          <pc:docMk/>
          <pc:sldMk cId="0" sldId="256"/>
        </pc:sldMkLst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01.874" v="37" actId="114"/>
          <ac:spMkLst>
            <pc:docMk/>
            <pc:sldMk cId="0" sldId="256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26.335" v="26" actId="2711"/>
          <ac:spMkLst>
            <pc:docMk/>
            <pc:sldMk cId="0" sldId="256"/>
            <ac:spMk id="9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4:23.051" v="107"/>
        <pc:sldMkLst>
          <pc:docMk/>
          <pc:sldMk cId="0" sldId="257"/>
        </pc:sldMkLst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40.907" v="27" actId="271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57"/>
            <ac:spMk id="22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5:35:35.073" v="39" actId="700"/>
        <pc:sldMkLst>
          <pc:docMk/>
          <pc:sldMk cId="0" sldId="258"/>
        </pc:sldMkLst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8:51.195" v="28" actId="2711"/>
          <ac:spMkLst>
            <pc:docMk/>
            <pc:sldMk cId="0" sldId="258"/>
            <ac:spMk id="20" creationId="{00000000-0000-0000-0000-000000000000}"/>
          </ac:spMkLst>
        </pc:spChg>
      </pc:sldChg>
      <pc:sldChg chg="modSp mod ord chgLayout">
        <pc:chgData name="Yedlapalli, Vamsi" userId="0f82d78b-8844-4523-84db-62272a297070" providerId="ADAL" clId="{AE3275C3-36B1-40E2-82FC-6092B23B97E1}" dt="2026-09-17T15:35:35.073" v="39" actId="700"/>
        <pc:sldMkLst>
          <pc:docMk/>
          <pc:sldMk cId="0" sldId="259"/>
        </pc:sldMkLst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30:51.145" v="38" actId="2711"/>
          <ac:spMkLst>
            <pc:docMk/>
            <pc:sldMk cId="0" sldId="259"/>
            <ac:spMk id="19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4:23.051" v="107"/>
        <pc:sldMkLst>
          <pc:docMk/>
          <pc:sldMk cId="0" sldId="260"/>
        </pc:sldMkLst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60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05.808" v="29" actId="2711"/>
          <ac:spMkLst>
            <pc:docMk/>
            <pc:sldMk cId="0" sldId="260"/>
            <ac:spMk id="10" creationId="{00000000-0000-0000-0000-000000000000}"/>
          </ac:spMkLst>
        </pc:spChg>
        <pc:graphicFrameChg chg="mod">
          <ac:chgData name="Yedlapalli, Vamsi" userId="0f82d78b-8844-4523-84db-62272a297070" providerId="ADAL" clId="{AE3275C3-36B1-40E2-82FC-6092B23B97E1}" dt="2026-09-17T16:04:23.051" v="107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 chgLayout">
        <pc:chgData name="Yedlapalli, Vamsi" userId="0f82d78b-8844-4523-84db-62272a297070" providerId="ADAL" clId="{AE3275C3-36B1-40E2-82FC-6092B23B97E1}" dt="2026-09-17T15:35:35.073" v="39" actId="700"/>
        <pc:sldMkLst>
          <pc:docMk/>
          <pc:sldMk cId="0" sldId="261"/>
        </pc:sldMkLst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3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3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29:15.509" v="30" actId="2711"/>
          <ac:spMkLst>
            <pc:docMk/>
            <pc:sldMk cId="0" sldId="261"/>
            <ac:spMk id="34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5:54:53.801" v="96" actId="20577"/>
        <pc:sldMkLst>
          <pc:docMk/>
          <pc:sldMk cId="0" sldId="262"/>
        </pc:sldMkLst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2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2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3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3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3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03.436" v="40" actId="2711"/>
          <ac:spMkLst>
            <pc:docMk/>
            <pc:sldMk cId="0" sldId="262"/>
            <ac:spMk id="3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4:53.801" v="96" actId="20577"/>
          <ac:spMkLst>
            <pc:docMk/>
            <pc:sldMk cId="0" sldId="262"/>
            <ac:spMk id="42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5:55:06.692" v="97" actId="2711"/>
        <pc:sldMkLst>
          <pc:docMk/>
          <pc:sldMk cId="0" sldId="263"/>
        </pc:sldMkLst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1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5:06.692" v="97" actId="2711"/>
          <ac:spMkLst>
            <pc:docMk/>
            <pc:sldMk cId="0" sldId="263"/>
            <ac:spMk id="23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4:23.051" v="107"/>
        <pc:sldMkLst>
          <pc:docMk/>
          <pc:sldMk cId="0" sldId="264"/>
        </pc:sldMkLst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1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6:25.998" v="98" actId="2711"/>
          <ac:spMkLst>
            <pc:docMk/>
            <pc:sldMk cId="0" sldId="264"/>
            <ac:spMk id="22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0:03.502" v="100" actId="6549"/>
        <pc:sldMkLst>
          <pc:docMk/>
          <pc:sldMk cId="0" sldId="265"/>
        </pc:sldMkLst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5:59:28.927" v="99" actId="2711"/>
          <ac:spMkLst>
            <pc:docMk/>
            <pc:sldMk cId="0" sldId="265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03.502" v="100" actId="6549"/>
          <ac:spMkLst>
            <pc:docMk/>
            <pc:sldMk cId="0" sldId="265"/>
            <ac:spMk id="23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1:01.524" v="103" actId="33524"/>
        <pc:sldMkLst>
          <pc:docMk/>
          <pc:sldMk cId="0" sldId="266"/>
        </pc:sldMkLst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01.524" v="103" actId="3352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2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0:50.364" v="101" actId="2711"/>
          <ac:spMkLst>
            <pc:docMk/>
            <pc:sldMk cId="0" sldId="266"/>
            <ac:spMk id="23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1:34.403" v="104" actId="2711"/>
        <pc:sldMkLst>
          <pc:docMk/>
          <pc:sldMk cId="0" sldId="267"/>
        </pc:sldMkLst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1:34.403" v="104" actId="2711"/>
          <ac:spMkLst>
            <pc:docMk/>
            <pc:sldMk cId="0" sldId="267"/>
            <ac:spMk id="17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2:27.157" v="105" actId="2711"/>
        <pc:sldMkLst>
          <pc:docMk/>
          <pc:sldMk cId="0" sldId="268"/>
        </pc:sldMkLst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2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2:27.157" v="105" actId="2711"/>
          <ac:spMkLst>
            <pc:docMk/>
            <pc:sldMk cId="0" sldId="268"/>
            <ac:spMk id="21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5:10.390" v="145" actId="20577"/>
        <pc:sldMkLst>
          <pc:docMk/>
          <pc:sldMk cId="0" sldId="269"/>
        </pc:sldMkLst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10.390" v="145" actId="20577"/>
          <ac:spMkLst>
            <pc:docMk/>
            <pc:sldMk cId="0" sldId="269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3:31.667" v="106" actId="2711"/>
          <ac:spMkLst>
            <pc:docMk/>
            <pc:sldMk cId="0" sldId="269"/>
            <ac:spMk id="16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5:55.791" v="146" actId="2711"/>
        <pc:sldMkLst>
          <pc:docMk/>
          <pc:sldMk cId="0" sldId="270"/>
        </pc:sldMkLst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0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0"/>
            <ac:spMk id="2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2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5:55.791" v="146" actId="2711"/>
          <ac:spMkLst>
            <pc:docMk/>
            <pc:sldMk cId="0" sldId="270"/>
            <ac:spMk id="25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6:39.443" v="147" actId="2711"/>
        <pc:sldMkLst>
          <pc:docMk/>
          <pc:sldMk cId="0" sldId="271"/>
        </pc:sldMkLst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1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1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1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1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2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6:39.443" v="147" actId="2711"/>
          <ac:spMkLst>
            <pc:docMk/>
            <pc:sldMk cId="0" sldId="271"/>
            <ac:spMk id="28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7:25.862" v="148" actId="2711"/>
        <pc:sldMkLst>
          <pc:docMk/>
          <pc:sldMk cId="0" sldId="272"/>
        </pc:sldMkLst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7:25.862" v="148" actId="2711"/>
          <ac:spMkLst>
            <pc:docMk/>
            <pc:sldMk cId="0" sldId="272"/>
            <ac:spMk id="16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08:07.259" v="149" actId="2711"/>
        <pc:sldMkLst>
          <pc:docMk/>
          <pc:sldMk cId="0" sldId="273"/>
        </pc:sldMkLst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07.259" v="149" actId="2711"/>
          <ac:spMkLst>
            <pc:docMk/>
            <pc:sldMk cId="0" sldId="273"/>
            <ac:spMk id="22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10:03.916" v="171" actId="20577"/>
        <pc:sldMkLst>
          <pc:docMk/>
          <pc:sldMk cId="0" sldId="274"/>
        </pc:sldMkLst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9:16.495" v="168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1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1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8:57.068" v="150" actId="2711"/>
          <ac:spMkLst>
            <pc:docMk/>
            <pc:sldMk cId="0" sldId="274"/>
            <ac:spMk id="1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0:03.916" v="171" actId="20577"/>
          <ac:spMkLst>
            <pc:docMk/>
            <pc:sldMk cId="0" sldId="274"/>
            <ac:spMk id="20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13:23.341" v="230" actId="6549"/>
        <pc:sldMkLst>
          <pc:docMk/>
          <pc:sldMk cId="0" sldId="275"/>
        </pc:sldMkLst>
        <pc:spChg chg="mod">
          <ac:chgData name="Yedlapalli, Vamsi" userId="0f82d78b-8844-4523-84db-62272a297070" providerId="ADAL" clId="{AE3275C3-36B1-40E2-82FC-6092B23B97E1}" dt="2026-09-17T16:10:20.184" v="172" actId="2711"/>
          <ac:spMkLst>
            <pc:docMk/>
            <pc:sldMk cId="0" sldId="275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0:20.184" v="172" actId="2711"/>
          <ac:spMkLst>
            <pc:docMk/>
            <pc:sldMk cId="0" sldId="275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0:20.184" v="172" actId="2711"/>
          <ac:spMkLst>
            <pc:docMk/>
            <pc:sldMk cId="0" sldId="275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0:20.184" v="172" actId="2711"/>
          <ac:spMkLst>
            <pc:docMk/>
            <pc:sldMk cId="0" sldId="275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23.341" v="230" actId="6549"/>
          <ac:spMkLst>
            <pc:docMk/>
            <pc:sldMk cId="0" sldId="275"/>
            <ac:spMk id="7" creationId="{00000000-0000-0000-0000-000000000000}"/>
          </ac:spMkLst>
        </pc:spChg>
        <pc:graphicFrameChg chg="mod">
          <ac:chgData name="Yedlapalli, Vamsi" userId="0f82d78b-8844-4523-84db-62272a297070" providerId="ADAL" clId="{AE3275C3-36B1-40E2-82FC-6092B23B97E1}" dt="2026-09-17T16:04:23.051" v="107"/>
          <ac:graphicFrameMkLst>
            <pc:docMk/>
            <pc:sldMk cId="0" sldId="275"/>
            <ac:graphicFrameMk id="21" creationId="{00000000-0000-0000-0000-000000000000}"/>
          </ac:graphicFrameMkLst>
        </pc:graphicFrameChg>
      </pc:sldChg>
      <pc:sldChg chg="modSp mod chgLayout">
        <pc:chgData name="Yedlapalli, Vamsi" userId="0f82d78b-8844-4523-84db-62272a297070" providerId="ADAL" clId="{AE3275C3-36B1-40E2-82FC-6092B23B97E1}" dt="2026-09-17T16:12:20.893" v="186" actId="20577"/>
        <pc:sldMkLst>
          <pc:docMk/>
          <pc:sldMk cId="0" sldId="276"/>
        </pc:sldMkLst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1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2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37.558" v="177" actId="5793"/>
          <ac:spMkLst>
            <pc:docMk/>
            <pc:sldMk cId="0" sldId="276"/>
            <ac:spMk id="2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2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2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2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2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6"/>
            <ac:spMk id="2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6"/>
            <ac:spMk id="3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6"/>
            <ac:spMk id="3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4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6"/>
            <ac:spMk id="4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6"/>
            <ac:spMk id="4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1:13.483" v="173" actId="2711"/>
          <ac:spMkLst>
            <pc:docMk/>
            <pc:sldMk cId="0" sldId="276"/>
            <ac:spMk id="4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2:20.893" v="186" actId="20577"/>
          <ac:spMkLst>
            <pc:docMk/>
            <pc:sldMk cId="0" sldId="276"/>
            <ac:spMk id="49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14:09.611" v="243" actId="20577"/>
        <pc:sldMkLst>
          <pc:docMk/>
          <pc:sldMk cId="0" sldId="277"/>
        </pc:sldMkLst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1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1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2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5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5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3:41.437" v="231" actId="2711"/>
          <ac:spMkLst>
            <pc:docMk/>
            <pc:sldMk cId="0" sldId="277"/>
            <ac:spMk id="6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09.611" v="243" actId="20577"/>
          <ac:spMkLst>
            <pc:docMk/>
            <pc:sldMk cId="0" sldId="277"/>
            <ac:spMk id="63" creationId="{00000000-0000-0000-0000-000000000000}"/>
          </ac:spMkLst>
        </pc:spChg>
      </pc:sldChg>
      <pc:sldChg chg="modSp mod chgLayout">
        <pc:chgData name="Yedlapalli, Vamsi" userId="0f82d78b-8844-4523-84db-62272a297070" providerId="ADAL" clId="{AE3275C3-36B1-40E2-82FC-6092B23B97E1}" dt="2026-09-17T16:15:39.507" v="377" actId="20577"/>
        <pc:sldMkLst>
          <pc:docMk/>
          <pc:sldMk cId="0" sldId="278"/>
        </pc:sldMkLst>
        <pc:spChg chg="mod">
          <ac:chgData name="Yedlapalli, Vamsi" userId="0f82d78b-8844-4523-84db-62272a297070" providerId="ADAL" clId="{AE3275C3-36B1-40E2-82FC-6092B23B97E1}" dt="2026-09-17T16:04:23.051" v="107"/>
          <ac:spMkLst>
            <pc:docMk/>
            <pc:sldMk cId="0" sldId="278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7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1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11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18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1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20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2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2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26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4:30.541" v="244" actId="2711"/>
          <ac:spMkLst>
            <pc:docMk/>
            <pc:sldMk cId="0" sldId="278"/>
            <ac:spMk id="29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5:39.507" v="377" actId="20577"/>
          <ac:spMkLst>
            <pc:docMk/>
            <pc:sldMk cId="0" sldId="278"/>
            <ac:spMk id="30" creationId="{00000000-0000-0000-0000-000000000000}"/>
          </ac:spMkLst>
        </pc:spChg>
      </pc:sldChg>
      <pc:sldChg chg="modSp del mod modShow chgLayout">
        <pc:chgData name="Yedlapalli, Vamsi" userId="0f82d78b-8844-4523-84db-62272a297070" providerId="ADAL" clId="{AE3275C3-36B1-40E2-82FC-6092B23B97E1}" dt="2026-09-21T09:24:50.449" v="401" actId="47"/>
        <pc:sldMkLst>
          <pc:docMk/>
          <pc:sldMk cId="0" sldId="279"/>
        </pc:sldMkLst>
      </pc:sldChg>
      <pc:sldChg chg="modSp del mod modShow chgLayout">
        <pc:chgData name="Yedlapalli, Vamsi" userId="0f82d78b-8844-4523-84db-62272a297070" providerId="ADAL" clId="{AE3275C3-36B1-40E2-82FC-6092B23B97E1}" dt="2026-09-21T09:24:50.449" v="401" actId="47"/>
        <pc:sldMkLst>
          <pc:docMk/>
          <pc:sldMk cId="0" sldId="280"/>
        </pc:sldMkLst>
      </pc:sldChg>
      <pc:sldChg chg="modSp del mod modShow chgLayout">
        <pc:chgData name="Yedlapalli, Vamsi" userId="0f82d78b-8844-4523-84db-62272a297070" providerId="ADAL" clId="{AE3275C3-36B1-40E2-82FC-6092B23B97E1}" dt="2026-09-21T09:24:50.449" v="401" actId="47"/>
        <pc:sldMkLst>
          <pc:docMk/>
          <pc:sldMk cId="0" sldId="281"/>
        </pc:sldMkLst>
      </pc:sldChg>
      <pc:sldChg chg="modSp del mod modShow chgLayout">
        <pc:chgData name="Yedlapalli, Vamsi" userId="0f82d78b-8844-4523-84db-62272a297070" providerId="ADAL" clId="{AE3275C3-36B1-40E2-82FC-6092B23B97E1}" dt="2026-09-21T09:24:50.449" v="401" actId="47"/>
        <pc:sldMkLst>
          <pc:docMk/>
          <pc:sldMk cId="0" sldId="282"/>
        </pc:sldMkLst>
      </pc:sldChg>
      <pc:sldChg chg="modSp mod chgLayout">
        <pc:chgData name="Yedlapalli, Vamsi" userId="0f82d78b-8844-4523-84db-62272a297070" providerId="ADAL" clId="{AE3275C3-36B1-40E2-82FC-6092B23B97E1}" dt="2026-09-17T16:18:19.350" v="400" actId="2711"/>
        <pc:sldMkLst>
          <pc:docMk/>
          <pc:sldMk cId="0" sldId="283"/>
        </pc:sldMkLst>
        <pc:spChg chg="mod">
          <ac:chgData name="Yedlapalli, Vamsi" userId="0f82d78b-8844-4523-84db-62272a297070" providerId="ADAL" clId="{AE3275C3-36B1-40E2-82FC-6092B23B97E1}" dt="2026-09-17T16:18:19.350" v="400" actId="2711"/>
          <ac:spMkLst>
            <pc:docMk/>
            <pc:sldMk cId="0" sldId="283"/>
            <ac:spMk id="2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8:19.350" v="400" actId="2711"/>
          <ac:spMkLst>
            <pc:docMk/>
            <pc:sldMk cId="0" sldId="283"/>
            <ac:spMk id="3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8:19.350" v="400" actId="2711"/>
          <ac:spMkLst>
            <pc:docMk/>
            <pc:sldMk cId="0" sldId="283"/>
            <ac:spMk id="4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8:19.350" v="400" actId="2711"/>
          <ac:spMkLst>
            <pc:docMk/>
            <pc:sldMk cId="0" sldId="283"/>
            <ac:spMk id="5" creationId="{00000000-0000-0000-0000-000000000000}"/>
          </ac:spMkLst>
        </pc:spChg>
        <pc:spChg chg="mod">
          <ac:chgData name="Yedlapalli, Vamsi" userId="0f82d78b-8844-4523-84db-62272a297070" providerId="ADAL" clId="{AE3275C3-36B1-40E2-82FC-6092B23B97E1}" dt="2026-09-17T16:18:19.350" v="400" actId="2711"/>
          <ac:spMkLst>
            <pc:docMk/>
            <pc:sldMk cId="0" sldId="283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364150-AC2C-406C-AC4C-896F71B256D7}" type="datetimeFigureOut"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CF026-5467-4650-AF96-32EF665C78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5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11887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TGS EMEA HACKATHON  ·  KNOWLEDGE CONTINUITY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</a:t>
            </a:r>
            <a:endParaRPr lang="en-US" sz="680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EBCD4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Know-how that stays.</a:t>
            </a:r>
            <a:endParaRPr lang="en-US" sz="24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566160"/>
            <a:ext cx="8595360" cy="86868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3566160"/>
            <a:ext cx="68580" cy="868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Notebooks organise what one person already gathered.</a:t>
            </a:r>
          </a:p>
          <a:p>
            <a:pPr marL="0" indent="0">
              <a:buNone/>
            </a:pPr>
            <a:endParaRPr lang="en-US" sz="13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Continuum captures what nobody wrote down - and combines it across the organisation.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Vamsi Yedlapalli  |  </a:t>
            </a:r>
            <a:r>
              <a:rPr lang="en-GB" sz="11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Concept Draft (Subject to refinement as the idea evolves)</a:t>
            </a:r>
            <a:endParaRPr lang="en-US" sz="11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PROBLEM, IN ONE TRUE STORY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 £11,700 question nobody could answer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9418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51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Sep 2026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834640" y="17190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milestone variance surfaces on Cisco ACE. The system shows a revised value. Nobody can say why.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68580" cy="941832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807208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hunt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2807208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Beeline, Connected, SMP, the RAID log, the pricing sheet. Four systems. Four partial answers.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776472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3776472"/>
            <a:ext cx="68580" cy="941832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3895344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handover note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34640" y="3895344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"As part of the project handover I was informed that certain milestone changes were requested..."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4864608"/>
            <a:ext cx="10972800" cy="9418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68580" cy="941832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2026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834640" y="498348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answer already existed: the client furlough period moved from five days to ten, so values were recalculated.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It was in an email thread with the billing team. Not in any system of record. The handover was well run  -  the reason still left with the person.</a:t>
            </a:r>
            <a:endParaRPr lang="en-US" sz="13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WHY IT KEEPS HAPPENING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This is not one client's problem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2140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Knowledge has a half-life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reason behind a decision lives in a head, a mailbox or a local folder. It decays the moment someone rolls off.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4340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6344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12140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Systems hold what, not why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6344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Beeline, Connected, GDP and PeopleSoft record the outcome. None of them record the rationale or who agreed it.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92440" y="1645920"/>
            <a:ext cx="34747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92440" y="1645920"/>
            <a:ext cx="68580" cy="27889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412480" y="1965960"/>
            <a:ext cx="658368" cy="658368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212140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27889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Handovers transfer tasks, not context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412480" y="34747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successor inherits the work, the access and the deadlines. The judgement behind past decisions does not come with it.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94360" y="4754880"/>
            <a:ext cx="10972800" cy="96012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94360" y="4754880"/>
            <a:ext cx="68580" cy="96012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914400" y="475488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Every engagement that ends without capture is a quiet write-off. We just never put a number on it.</a:t>
            </a:r>
            <a:endParaRPr lang="en-US" sz="16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DIFFERENT LAYER, NOT A DIFFERENT PRODUCT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Where this sits in the landscape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72768"/>
          <a:ext cx="10972800" cy="27711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platforms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upload, per person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from work already happening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Refresh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 -  re-upload to update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refresh with ageing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notebook, per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client and project, across people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and files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plus systems with no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curve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 -  each notebook is an island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Compounds with every contributor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470916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94360" y="470916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47091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 capture and aggregation layer feeding a retrieval layer is normal architecture  -  not competition.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Continuum publishes released cards outward, so existing delivery intelligence platforms get better content, not a rival.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WHY THIS IS SAFE TO FUND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Value at every stage, even if we stop early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920240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27048" y="1810512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Collector alone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26280" y="181051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623560" y="1810512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Capture replaces manual re-keying. Status and onboarding prep gets faster on day one.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2761488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2761488"/>
            <a:ext cx="68580" cy="10058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86968" y="3035808"/>
            <a:ext cx="457200" cy="457200"/>
          </a:xfrm>
          <a:prstGeom prst="ellipse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27048" y="2926080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Workspace &amp; Ask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26280" y="292608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23560" y="2926080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private assistant over your own work. Useful even if nobody else contributes yet.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3877056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3877056"/>
            <a:ext cx="68580" cy="10058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6968" y="415137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86968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7048" y="404164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Refinery &amp; Vault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26280" y="404164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23560" y="404164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Answers the question that costs us most: who has done this for this client before?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4992624"/>
            <a:ext cx="10972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94360" y="4992624"/>
            <a:ext cx="68580" cy="10058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86968" y="5266944"/>
            <a:ext cx="457200" cy="45720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968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527048" y="5157216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Plus Radar</a:t>
            </a:r>
            <a:endParaRPr lang="en-US" sz="1550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526280" y="515721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>
              <a:latin typeface="Aptos Display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623560" y="5157216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Leadership sees where knowledge is thin before the person leaves, not after.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 cold-start problem. The first person to use it benefits immediately, before any organisational library exists.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777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 captures knowledge automatically,</a:t>
            </a:r>
            <a:endParaRPr lang="en-US" sz="28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keeps the owner in control of what is released,</a:t>
            </a:r>
            <a:endParaRPr lang="en-US" sz="28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and combines it across people by client and project.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0873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Owner-controlled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612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Nothing is released until the person who captured it decides the audience.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262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5262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40873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188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Linked, not copied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188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point back to the source. Existing permissions keep working, untouched.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83880" y="3794760"/>
            <a:ext cx="3383280" cy="1828800"/>
          </a:xfrm>
          <a:prstGeom prst="rect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183880" y="3794760"/>
            <a:ext cx="33832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408736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4526280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Compounds across people</a:t>
            </a:r>
            <a:endParaRPr lang="en-US" sz="1450" dirty="0">
              <a:latin typeface="Aptos Display" panose="020B0004020202020204" pitchFamily="34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8476488" y="4873752"/>
            <a:ext cx="27980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3CDD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Each contributor makes the next person's answer better. Value grows, it does not sit still.</a:t>
            </a:r>
            <a:endParaRPr lang="en-US" sz="11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SHAPE OF THE BUILD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Six modules. Each one useful on its own.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1168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 · Collector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8696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Pulls your data out of systems that have no API.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34340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3600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01168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3600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 · Workspace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3600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Your own material, organised, with per-item release control.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092440" y="1600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8092440" y="1600200"/>
            <a:ext cx="68580" cy="2011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385048" y="1874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01168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85048" y="2587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3 · Ask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8385048" y="2953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chat, two scopes: my data, or what the org released.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9436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594360" y="3886200"/>
            <a:ext cx="68580" cy="2011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8696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29768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96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4 · Refinery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88696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Turns raw capture into short, sourced knowledge cards.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0" name="Shape 24"/>
          <p:cNvSpPr/>
          <p:nvPr/>
        </p:nvSpPr>
        <p:spPr>
          <a:xfrm>
            <a:off x="434340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4343400" y="3886200"/>
            <a:ext cx="68580" cy="20116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463600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297680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63600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5 · Vault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63600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Stores, refreshes, ages and exports the card library.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6" name="Shape 29"/>
          <p:cNvSpPr/>
          <p:nvPr/>
        </p:nvSpPr>
        <p:spPr>
          <a:xfrm>
            <a:off x="8092440" y="3886200"/>
            <a:ext cx="34747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8092440" y="3886200"/>
            <a:ext cx="68580" cy="201168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8385048" y="4160520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297680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85048" y="4873752"/>
            <a:ext cx="2889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 · Radar</a:t>
            </a:r>
            <a:endParaRPr lang="en-US" sz="1700" dirty="0">
              <a:latin typeface="Aptos Display" panose="020B0004020202020204" pitchFamily="34" charset="0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8385048" y="523951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Shows leadership what we are about to forget.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Logical grouping of Modules- (2,3 and 4); (1, 5 and 6) are open for other teams to take. All six build in parallel against one agreed record shape.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1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1 · Collector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Your data, gathered from everywhere, without a single copy-paste.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User registers a client and project once, with links to the folders and sites that hold its material.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Everything under a registered location inherits that client and project. No per-file tagging.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For screen-only systems the user presses Capture while already signed in. Named fields only, never the whole page.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preview appears before anything is stored. Nothing is captured silently.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 one Cisco project. Capture the Beeline renewal playbook, the support guide and one screen record.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reusable capture pack that removes manual re-keying from onboarding and status reporting.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Someone comfortable with scripting and Power Automate Desktop.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2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2 · Workspace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Finally, everything I know in one place  -  and I decide what leaves.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panes: the source on the left, the extracted candidates on the right.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Filter by client, project, source or date. Bulk approve or dismiss.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Four choices per item: keep private, engagement, account team, or organisation.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Unclassified items default to private. Failing closed costs nothing and prevents cross-client leakage.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Sixty real items on screen. Personal reminders filtered out. Six released with client and project attached.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personal reference organiser that is useful even if nothing is ever released.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front-end builder. The most visible module in the demo.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3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3 · Ask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Ask your own work anything. Ask the organisation only what people released.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interface, one scope switch. My Data reads only your private staged content.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Organisation reads only released cards. The two are never blended and the active scope is always on screen.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 answer cites the file, page or record it came from, and names the contributor.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"I don't have that" is a valid answer. No invented specifics, ever.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how to onboard a resource onto the client system and get the steps back, with sources and contributors attached.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Immediate personal time saved, and the most persuasive ninety seconds of the demo.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Prompt design and retrieval tuning. 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4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4 · Refinery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Turns scattered notes into knowledge the next person can actually use.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Sorts every candidate into Fact, Experience or Personal reminder. Personal reminders can never be released.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Writes a short card: what to do, when it applies, where it came from, who contributed it.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Groups items about the same decision into one card and keeps every source as evidence.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Where two cards differ, both are shown with their dates. Freshness decides, not seniority.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people documented the same client tool independently. Show both surfaced, linked, and dated.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card engine can be pointed at existing SharePoint content on day one.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Data modelling and structured prompt design.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5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5 · Vault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Stays current on its own, and gives you exactly the slice you need.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library of released cards, keyed by client, project, audience and status.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Scheduled refresh re-reads registered sources and flags new, changed or stale content.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age. Past their review date they are marked Needs review rather than quietly trusted.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Filtered export by client, project, contributor or status.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Run the refresh. Three cards update, one ages out. Export a client starter pack.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working refresh and export layer any other module can plug into later.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Integration and scheduling. Can be built against sample cards from hour one.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MODULE 6 OF 6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6 · Radar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698480" y="256032"/>
            <a:ext cx="658368" cy="658368"/>
          </a:xfrm>
          <a:prstGeom prst="ellipse">
            <a:avLst/>
          </a:prstGeom>
          <a:solidFill>
            <a:srgbClr val="1F3159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2" y="420624"/>
            <a:ext cx="329184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1481328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481328"/>
            <a:ext cx="68580" cy="658368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400" y="148132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Shows leadership what we are about to forget.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6720840" cy="3063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86968" y="25146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60" dirty="0">
                <a:solidFill>
                  <a:srgbClr val="E76F51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86968" y="2852928"/>
            <a:ext cx="6172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 adoption metrics. Continuity risk: clients where the knowledge sits with one person.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Engagements with people rolling off and thin captured knowledge.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overdue for review, and coverage gaps by client and project.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Contribution and reuse recognition, with the contributor always named.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9520" y="2331720"/>
            <a:ext cx="3977640" cy="14630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9520" y="2331720"/>
            <a:ext cx="68580" cy="14630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863840" y="24871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 THE 2 DAYS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863840" y="27614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"One person held the milestone rationale. They offboarded in April. This would have flagged it in March."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89520" y="3931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89520" y="3931920"/>
            <a:ext cx="68580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863840" y="40873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STANDS ALONE BECAUSE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863840" y="436168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 leadership narrative that lands even on sample data.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Who should take this:  </a:t>
            </a: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Reporting and storytelling. The closing slide of the demo.</a:t>
            </a:r>
            <a:endParaRPr lang="en-US" sz="12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HOW CLIENT AND PROJECT GET ATTACHED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Register once. Everything underneath inherits.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949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68580" cy="23774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7556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user registers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name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or engagement name and duration (+/- 60day window)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 -  present from lead registration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Links to the folders and sites that hold its material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email domain and Teams channel names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257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68580" cy="2377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01968" y="1755648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system infers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01968" y="2148840"/>
            <a:ext cx="4672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Everything under a registered link inherits that client and project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extracted from folder and record names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ID added later, once the SoW is signed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Suggested registrations proposed from the folder tree  -  user corrects, not types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4160520"/>
            <a:ext cx="10972800" cy="749808"/>
          </a:xfrm>
          <a:prstGeom prst="rect">
            <a:avLst/>
          </a:prstGeom>
          <a:solidFill>
            <a:srgbClr val="FFF3D6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is the join key.  </a:t>
            </a: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It exists from lead registration. Project ID only arrives after sign-off, so knowledge captured during solutioning is never orphaned.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5074920"/>
            <a:ext cx="68580" cy="9144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Registration is one-time setup per project, not a step on every capture. Anything unregistered stays private.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RECORD  -  SMALL ENOUGH TO READ, COMPLETE ENOUGH TO TRUST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knowledge card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Anatomy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Title  -  what this is about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and project  -  carried on the card itself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Guidance  -  the actionable point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When it applies  -  the trigger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Sources  -  linked, with a count at a glance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Contributor  -  always named, always visible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Type  -  fact or experience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Audience  -  private, engagement, account, org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Last confirmed  -  and a freshness state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806440" y="1572768"/>
            <a:ext cx="576072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06440" y="1572768"/>
            <a:ext cx="68580" cy="37947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26480" y="17556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CARD THAT SHOULD HAVE EXISTED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26480" y="20482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Why milestone values were recalculated</a:t>
            </a:r>
            <a:endParaRPr lang="en-US" sz="1900" dirty="0">
              <a:latin typeface="Aptos Display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126480" y="2697480"/>
            <a:ext cx="5120640" cy="82296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client furlough period increased from five days as solutioned to ten days, which triggered a milestone recalculation.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2648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/ project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3524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Cisco · ACE Development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26480" y="39684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Applies when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35240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Reconciling a milestone variance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42793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3 sources · 2 systems · linked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2648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35240" y="4590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Named and visible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4901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35240" y="490118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Confirmed  -  review due in 60 days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5577840"/>
            <a:ext cx="10972800" cy="658368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94360" y="5577840"/>
            <a:ext cx="68580" cy="65836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57784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Nine fields. Thirty seconds to read. Six months of searching avoided.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EVIDENCE TRAIL  -  HOW A CARD IS ASSEMBLED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One decision, three sources, one card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68580" cy="16002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 -  email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Billing team asks why the January milestone differs from the solutioned value.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48328" y="2395728"/>
            <a:ext cx="201168" cy="4572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5864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58640" y="1627632"/>
            <a:ext cx="68580" cy="1600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3296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Feb  -  reply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3296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furlough period increased from five days to ten. Values recalculated.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12608" y="2395728"/>
            <a:ext cx="201168" cy="4572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22920" y="1627632"/>
            <a:ext cx="3444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122920" y="1627632"/>
            <a:ext cx="68580" cy="16002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97240" y="1810512"/>
            <a:ext cx="289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85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Sep  -  system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7240" y="2148840"/>
            <a:ext cx="289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 shows the revised milestone. The number, without the reason.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3429000"/>
            <a:ext cx="10972800" cy="457200"/>
          </a:xfrm>
          <a:prstGeom prst="rect">
            <a:avLst/>
          </a:prstGeom>
          <a:solidFill>
            <a:srgbClr val="DCE3E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▼   Same client, same project, same subject  -  grouped into one card, every source kept as evidence</a:t>
            </a:r>
            <a:endParaRPr lang="en-US" sz="1200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4360" y="4041648"/>
            <a:ext cx="10972800" cy="1234440"/>
          </a:xfrm>
          <a:prstGeom prst="rect">
            <a:avLst/>
          </a:prstGeom>
          <a:solidFill>
            <a:srgbClr val="1F3159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4041648"/>
            <a:ext cx="68580" cy="12344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 KNOWLEDGE CARD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4400" y="449884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Why milestone values were recalculated   -   3 sources  ·  2 systems  ·  contributor named  ·  dates preserved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94360" y="5440680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Dates are first class. The order of events is what turns three fragments into one explanation.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HOW EVERY ITEM IS CLASSIFIED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Client and project are the primary filters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48640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68580" cy="22402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17556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Inherited from registration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86968" y="21488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Registered folder, site or mailbox folder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email domain and Teams channel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Opportunity ID found in the path or record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Document title and header metadata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0" y="1572768"/>
            <a:ext cx="5166360" cy="2240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572768"/>
            <a:ext cx="68580" cy="22402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93408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Confirmed by the contributor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93408" y="214884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Client  -  mandatory, never inferred silently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Project or engagement  -  mandatory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Audience  -  private, engagement, account team, organisation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Anything unclassified defaults to private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10972800" cy="749808"/>
          </a:xfrm>
          <a:prstGeom prst="rect">
            <a:avLst/>
          </a:prstGeom>
          <a:solidFill>
            <a:srgbClr val="FFF3D6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" y="406908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A00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Cross-client synthesis is deliberately not supported.  </a:t>
            </a:r>
            <a:r>
              <a:rPr lang="en-US" sz="130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Cards are scoped individually and are never combined across clients or audience levels.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4983480"/>
            <a:ext cx="10972800" cy="86868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4983480"/>
            <a:ext cx="68580" cy="86868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Fail closed. An unclassified item staying private costs nothing. The reverse costs trust.</a:t>
            </a:r>
            <a:endParaRPr lang="en-US" sz="15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TERMINOLOGY  -  LOCK THIS BEFORE ANYONE WRITES CODE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Two things, two names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4592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45920"/>
            <a:ext cx="68580" cy="25146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KNOWLEDGE CARD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record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gets captured, released, stored, retrieved and aged. It has fields, a lifecycle and an owner. Every module reads or writes this shape.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1371600" cy="384048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68580" cy="25146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SIGNAL TAG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29400" y="21762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indicator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29400" y="27889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coloured chip on screen showing client, status, freshness or audience. Purely visual. Carries no data of its own.</a:t>
            </a:r>
            <a:endParaRPr lang="en-US" sz="1300" dirty="0">
              <a:latin typeface="Aptos Display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629400" y="3611880"/>
            <a:ext cx="1371600" cy="3840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29400" y="3611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452628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452628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52628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Both exist. They cannot share a name. A team building tags while the standard describes records will not integrate.</a:t>
            </a:r>
            <a:endParaRPr lang="en-US" sz="15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STACK DECISION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Microsoft first, by necessity and by choice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539496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68580" cy="25146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28800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47672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The constraint that shapes everything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251460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Organization laptops do not permit installing external applications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 the user-facing part must run in the browser or in Teams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And capture must use tooling already approved on the device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This is not a limitation to apologise for  -  it is why the result is adoptable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309360" y="1600200"/>
            <a:ext cx="5257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09360" y="1600200"/>
            <a:ext cx="68580" cy="2514600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01968" y="1828800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947672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If a cloud sandbox is available</a:t>
            </a:r>
            <a:endParaRPr lang="en-US" sz="15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29400" y="251460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It accelerates the reasoning and search layer only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The capture and release experience stays on the device either way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Nothing in the two-day demo depends on it</a:t>
            </a:r>
            <a:endParaRPr lang="en-US" sz="12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Treated as an accelerator, never as a prerequisite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4360" y="4389120"/>
            <a:ext cx="10972800" cy="105156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94360" y="4389120"/>
            <a:ext cx="68580" cy="105156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914400" y="43891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We design for the laptop we actually have. Anything that needs an install has already failed adoption..!!</a:t>
            </a:r>
            <a:endParaRPr lang="en-US" sz="15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TWO DAYS VERSUS PRODUCTION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Where the data actually lives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10972800" cy="3749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Hackathon build (2 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write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Teams team  -  Continuum (Hackathon)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governed environment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 engagement sites, mailbox, files  -  read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plus connectors and MCP endpoints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staging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channel site  -  contributor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scope with row-level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library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channel list  -  released cards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card table, audience scoped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Linked, never copied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Linked; copied only when marked org-visible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SharePoint and Copilot grounding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index filtered by client and 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permissions plus audience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groups mapped to audience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and toggles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config list, edited by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Console over governed config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We write only to our own Team Channel / Teams </a:t>
            </a:r>
            <a:r>
              <a:rPr lang="en-US" sz="950" dirty="0" err="1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Sharepoint</a:t>
            </a: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 . Live engagement sites are read, never modified  -  nothing we build touches client/existing artefacts.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BROWSER AND APPROVED MICROSOFT TOOLING ONLY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Two-day architecture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36192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36192"/>
            <a:ext cx="10972800" cy="54864"/>
          </a:xfrm>
          <a:prstGeom prst="rect">
            <a:avLst/>
          </a:prstGeom>
          <a:solidFill>
            <a:srgbClr val="5A6B85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REGISTERED SOURCES  ·  read only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Outlook mail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8251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29691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SharePoint / SMP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53543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44983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OneNote export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68834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60274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Excel trackers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84126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75566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GDP screen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99417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90857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Connected screen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914709" y="1920240"/>
            <a:ext cx="1423851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06149" y="1920240"/>
            <a:ext cx="1240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Beeline screen…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2606040"/>
            <a:ext cx="1097280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7240" y="271576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1  -  LANDING  ·  private channel library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2990088"/>
            <a:ext cx="512064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" y="2990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Source link  +  provenance envelope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26480" y="2990088"/>
            <a:ext cx="525780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17920" y="299008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Capture preview  -  user confirms before anything is stored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3675888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" y="3675888"/>
            <a:ext cx="10972800" cy="54864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378561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A9D8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2  -  LEDGER  ·  three lists, tagged by client and project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296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1440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Structured records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388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46532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Semi-structured records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24800" y="4059936"/>
            <a:ext cx="341376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16240" y="4059936"/>
            <a:ext cx="323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Unstructured chunks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94360" y="47183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60" dirty="0">
                <a:solidFill>
                  <a:srgbClr val="E76F51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▼  CONTRIBUTOR RELEASE GATE   -   private channel ends here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" y="5074920"/>
            <a:ext cx="10972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" y="5074920"/>
            <a:ext cx="10972800" cy="54864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7240" y="51846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213D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ZONE 3  -  LIBRARY  ·  standard channel, released knowledge cards</a:t>
            </a:r>
            <a:endParaRPr lang="en-US" sz="1100" dirty="0">
              <a:latin typeface="Aptos Display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" y="5458968"/>
            <a:ext cx="3291840" cy="4572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4400" y="5458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list (audience scoped)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251960" y="5458968"/>
            <a:ext cx="352044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343400" y="54589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 -  my data / organisation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909560" y="5458968"/>
            <a:ext cx="3474720" cy="4572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001000" y="5458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Radar  -  continuity view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Refer: draw.io file, page 1.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WHAT IT BECOMES WITH PROPER ACCESS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Production architecture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37560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10712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Teams app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50562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3714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63563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36715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Ask (dual scope)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76565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49717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89566" y="1719072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862718" y="1719072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" y="2450592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" y="2450592"/>
            <a:ext cx="68580" cy="77724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8680" y="25420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337560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410712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Grounded retrieval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53812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26964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extraction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370064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43216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Grouping &amp; linking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86316" y="2615184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459468" y="2615184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Ageing rules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3346704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94360" y="3346704"/>
            <a:ext cx="68580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" y="34381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Knowledge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337560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10712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Card store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025896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099048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Search index (client + audience filtered)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714232" y="3511296"/>
            <a:ext cx="2578608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787384" y="3511296"/>
            <a:ext cx="24323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94360" y="4242816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94360" y="4242816"/>
            <a:ext cx="68580" cy="7772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68680" y="43342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Ingestion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337560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410712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Cloud flows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950562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23714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Desktop flows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563563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36715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176565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249717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MCP endpoints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789566" y="4407408"/>
            <a:ext cx="150327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862718" y="4407408"/>
            <a:ext cx="135697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Manual intake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94360" y="5138928"/>
            <a:ext cx="10972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94360" y="5138928"/>
            <a:ext cx="68580" cy="77724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68680" y="523036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lang="en-US" sz="1250" dirty="0">
              <a:latin typeface="Aptos Display" panose="020B00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3337560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410712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Entra groups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353812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426964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Purview labels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370064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43216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386316" y="5303520"/>
            <a:ext cx="1906524" cy="448056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459468" y="5303520"/>
            <a:ext cx="17602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36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Retention &amp; review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Refer: draw.io file, page 2 &amp; page 3 shows the evidence trail and card lifecycle.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170432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61520" cy="50292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20116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FFB703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NOT IN THE TWO DAYS  -  BUT ESSENTIAL THE MOMENT THIS IS REAL</a:t>
            </a:r>
            <a:endParaRPr lang="en-US" sz="1050" dirty="0"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47548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2700" dirty="0">
              <a:latin typeface="Aptos Display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62763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86968" y="188366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02536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81912" y="192024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Feature control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254203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Turn individual modules on or off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Enable or disable a source per team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Stage rollout by business unit or client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86500" y="162763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86500" y="162763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79108" y="188366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200253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74052" y="192024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Data visibility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606540" y="254203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Set who can see which audience level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Revoke a released card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Freeze a client library during a dispute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94360" y="400507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594360" y="400507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86968" y="426110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79976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81912" y="42976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Trust and freshness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914400" y="491947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Set review periods per client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Assign a validation owner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Queue of cards past their confirm date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286500" y="4005072"/>
            <a:ext cx="5280660" cy="2057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6286500" y="4005072"/>
            <a:ext cx="68580" cy="2057400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579108" y="4261104"/>
            <a:ext cx="548640" cy="548640"/>
          </a:xfrm>
          <a:prstGeom prst="ellipse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980" y="437997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74052" y="4297680"/>
            <a:ext cx="400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600" dirty="0">
              <a:latin typeface="Aptos Display" panose="020B0004020202020204" pitchFamily="34" charset="0"/>
            </a:endParaRPr>
          </a:p>
        </p:txBody>
      </p:sp>
      <p:sp>
        <p:nvSpPr>
          <p:cNvPr id="29" name="Text 23"/>
          <p:cNvSpPr/>
          <p:nvPr/>
        </p:nvSpPr>
        <p:spPr>
          <a:xfrm>
            <a:off x="6606540" y="4919472"/>
            <a:ext cx="46405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Refresh schedules and failure alerts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Coverage and staleness by client</a:t>
            </a:r>
            <a:endParaRPr lang="en-US" sz="1150" dirty="0">
              <a:latin typeface="Aptos Display" panose="020B00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Contribution and reuse reporting</a:t>
            </a:r>
            <a:endParaRPr lang="en-US" sz="1150" dirty="0">
              <a:latin typeface="Aptos Display" panose="020B0004020202020204" pitchFamily="34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594360" y="64190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85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If time does not permit: Shown as a static view in the demo. Included here to showcase the thought process around governance path.</a:t>
            </a:r>
            <a:endParaRPr lang="en-US" sz="95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20574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EBCD4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Systems will always tell you what was decided.</a:t>
            </a:r>
            <a:endParaRPr lang="en-US" sz="2600" dirty="0"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Continuum keeps the reason,</a:t>
            </a:r>
            <a:endParaRPr lang="en-US" sz="4400" dirty="0"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and the person who knew it.</a:t>
            </a:r>
            <a:endParaRPr lang="en-US" sz="4400" dirty="0">
              <a:latin typeface="Aptos Display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4617720"/>
            <a:ext cx="3840480" cy="54864"/>
          </a:xfrm>
          <a:prstGeom prst="rect">
            <a:avLst/>
          </a:prstGeom>
          <a:solidFill>
            <a:srgbClr val="FFB703"/>
          </a:solidFill>
          <a:ln/>
        </p:spPr>
        <p:txBody>
          <a:bodyPr/>
          <a:lstStyle/>
          <a:p>
            <a:endParaRPr lang="en-GB" dirty="0"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4846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B703"/>
                </a:solidFill>
                <a:latin typeface="Aptos Display" panose="020B0004020202020204" pitchFamily="34" charset="0"/>
                <a:ea typeface="Georgia" pitchFamily="34" charset="-122"/>
                <a:cs typeface="Georgia" pitchFamily="34" charset="-120"/>
              </a:rPr>
              <a:t>Know-how that stays.</a:t>
            </a:r>
            <a:endParaRPr lang="en-US" sz="18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 Display"/>
        <a:ea typeface=""/>
        <a:cs typeface=""/>
      </a:majorFont>
      <a:minorFont>
        <a:latin typeface="Aptos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2875</Words>
  <Application>Microsoft Office PowerPoint</Application>
  <PresentationFormat>Widescreen</PresentationFormat>
  <Paragraphs>390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Continuum - Knowledge Continuity Platform</dc:title>
  <dc:subject>PptxGenJS Presentation</dc:subject>
  <dc:creator>Yedlapalli, Vamsi</dc:creator>
  <cp:lastModifiedBy>Yedlapalli, Vamsi</cp:lastModifiedBy>
  <cp:revision>2</cp:revision>
  <dcterms:created xsi:type="dcterms:W3CDTF">2026-09-17T12:25:08Z</dcterms:created>
  <dcterms:modified xsi:type="dcterms:W3CDTF">2026-09-21T09:24:56Z</dcterms:modified>
</cp:coreProperties>
</file>